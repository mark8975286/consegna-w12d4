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96CF371-355B-8169-30C6-9499B83BDEBD}">
          <p14:sldIdLst>
            <p14:sldId id="256"/>
            <p14:sldId id="257"/>
            <p14:sldId id="258"/>
          </p14:sldIdLst>
        </p14:section>
        <p14:section name="Vendite" id="{75F56D35-5444-E6E1-4D01-92F47F2DF8A4}">
          <p14:sldIdLst>
            <p14:sldId id="259"/>
            <p14:sldId id="260"/>
            <p14:sldId id="261"/>
          </p14:sldIdLst>
        </p14:section>
        <p14:section name="Rivenditori" id="{CE1FB84E-1AD4-3AB5-AC03-4501A733A075}">
          <p14:sldIdLst>
            <p14:sldId id="262"/>
            <p14:sldId id="263"/>
            <p14:sldId id="264"/>
            <p14:sldId id="265"/>
          </p14:sldIdLst>
        </p14:section>
        <p14:section name="Azioni" id="{42481319-73A2-2A19-5137-7EF27223C805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Fatturato annuo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Fatturato (mila €)</c:v>
                </c:pt>
              </c:strCache>
            </c:strRef>
          </c:tx>
          <c:spPr>
            <a:solidFill>
              <a:srgbClr val="9CC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CF-4FA3-BDEE-38A697981DF9}"/>
              </c:ext>
            </c:extLst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CF-4FA3-BDEE-38A697981DF9}"/>
              </c:ext>
            </c:extLst>
          </c:dPt>
          <c:dPt>
            <c:idx val="2"/>
            <c:invertIfNegative val="0"/>
            <c:bubble3D val="0"/>
            <c:spPr>
              <a:solidFill>
                <a:srgbClr val="0F3D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CF-4FA3-BDEE-38A697981DF9}"/>
              </c:ext>
            </c:extLst>
          </c:dPt>
          <c:dLbls>
            <c:numFmt formatCode="0.0&quot; mila €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D"/>
                    </a:solidFill>
                    <a:latin typeface="+mn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145.80000000000001</c:v>
                </c:pt>
                <c:pt idx="1">
                  <c:v>187.2</c:v>
                </c:pt>
                <c:pt idx="2">
                  <c:v>227.1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DCF-4FA3-BDEE-38A697981D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Quota del fatturato (%)</c:v>
                </c:pt>
              </c:strCache>
            </c:strRef>
          </c:tx>
          <c:spPr>
            <a:solidFill>
              <a:srgbClr val="E855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9B-4EB1-BF4F-B1766983D86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D9B-4EB1-BF4F-B1766983D86B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9B-4EB1-BF4F-B1766983D86B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9B-4EB1-BF4F-B1766983D86B}"/>
              </c:ext>
            </c:extLst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9B-4EB1-BF4F-B1766983D86B}"/>
              </c:ext>
            </c:extLst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D9B-4EB1-BF4F-B1766983D86B}"/>
              </c:ext>
            </c:extLst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D9B-4EB1-BF4F-B1766983D86B}"/>
              </c:ext>
            </c:extLst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D9B-4EB1-BF4F-B1766983D86B}"/>
              </c:ext>
            </c:extLst>
          </c:dPt>
          <c:dPt>
            <c:idx val="8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D9B-4EB1-BF4F-B1766983D86B}"/>
              </c:ext>
            </c:extLst>
          </c:dPt>
          <c:dPt>
            <c:idx val="9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D9B-4EB1-BF4F-B1766983D86B}"/>
              </c:ext>
            </c:extLst>
          </c:dPt>
          <c:dPt>
            <c:idx val="10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8D9B-4EB1-BF4F-B1766983D86B}"/>
              </c:ext>
            </c:extLst>
          </c:dPt>
          <c:dPt>
            <c:idx val="11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8D9B-4EB1-BF4F-B1766983D86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D"/>
                    </a:solidFill>
                    <a:latin typeface="+mn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Bici BMX</c:v>
                </c:pt>
                <c:pt idx="1">
                  <c:v>Bici Junior</c:v>
                </c:pt>
                <c:pt idx="2">
                  <c:v>Robot RC</c:v>
                </c:pt>
                <c:pt idx="3">
                  <c:v>Monopattino</c:v>
                </c:pt>
                <c:pt idx="4">
                  <c:v>Macchinina RC</c:v>
                </c:pt>
                <c:pt idx="5">
                  <c:v>Costruzioni 500</c:v>
                </c:pt>
                <c:pt idx="6">
                  <c:v>Scacchi Legno</c:v>
                </c:pt>
                <c:pt idx="7">
                  <c:v>Bambola Classica</c:v>
                </c:pt>
                <c:pt idx="8">
                  <c:v>Pallone Calcio</c:v>
                </c:pt>
                <c:pt idx="9">
                  <c:v>Puzzle 1000</c:v>
                </c:pt>
                <c:pt idx="10">
                  <c:v>Racchette Beach</c:v>
                </c:pt>
                <c:pt idx="11">
                  <c:v>Gioco dell'Oca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</c:v>
                </c:pt>
                <c:pt idx="1">
                  <c:v>18.100000000000001</c:v>
                </c:pt>
                <c:pt idx="2">
                  <c:v>13.2</c:v>
                </c:pt>
                <c:pt idx="3">
                  <c:v>10.5</c:v>
                </c:pt>
                <c:pt idx="4">
                  <c:v>8.4</c:v>
                </c:pt>
                <c:pt idx="5">
                  <c:v>6.3</c:v>
                </c:pt>
                <c:pt idx="6">
                  <c:v>5.5</c:v>
                </c:pt>
                <c:pt idx="7">
                  <c:v>3.2</c:v>
                </c:pt>
                <c:pt idx="8">
                  <c:v>2.7</c:v>
                </c:pt>
                <c:pt idx="9">
                  <c:v>2.1</c:v>
                </c:pt>
                <c:pt idx="10">
                  <c:v>2</c:v>
                </c:pt>
                <c:pt idx="11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D9B-4EB1-BF4F-B1766983D8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Crescita del fatturato 2025 vs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Crescita 2025 vs 2024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44-46C5-BDCC-4AE8F202067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844-46C5-BDCC-4AE8F202067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844-46C5-BDCC-4AE8F202067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844-46C5-BDCC-4AE8F202067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844-46C5-BDCC-4AE8F202067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844-46C5-BDCC-4AE8F202067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844-46C5-BDCC-4AE8F2020677}"/>
              </c:ext>
            </c:extLst>
          </c:dPt>
          <c:dPt>
            <c:idx val="7"/>
            <c:invertIfNegative val="0"/>
            <c:bubble3D val="0"/>
            <c:spPr>
              <a:solidFill>
                <a:srgbClr val="E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844-46C5-BDCC-4AE8F2020677}"/>
              </c:ext>
            </c:extLst>
          </c:dPt>
          <c:dPt>
            <c:idx val="8"/>
            <c:invertIfNegative val="0"/>
            <c:bubble3D val="0"/>
            <c:spPr>
              <a:solidFill>
                <a:srgbClr val="E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844-46C5-BDCC-4AE8F2020677}"/>
              </c:ext>
            </c:extLst>
          </c:dPt>
          <c:dLbls>
            <c:numFmt formatCode="\+0&quot;%&quot;;\-0&quot;%&quot;;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D"/>
                    </a:solidFill>
                    <a:latin typeface="+mn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Svezia</c:v>
                </c:pt>
                <c:pt idx="1">
                  <c:v>Norvegia</c:v>
                </c:pt>
                <c:pt idx="2">
                  <c:v>Germania</c:v>
                </c:pt>
                <c:pt idx="3">
                  <c:v>Spagna</c:v>
                </c:pt>
                <c:pt idx="4">
                  <c:v>Francia</c:v>
                </c:pt>
                <c:pt idx="5">
                  <c:v>Danimarca</c:v>
                </c:pt>
                <c:pt idx="6">
                  <c:v>Italia</c:v>
                </c:pt>
                <c:pt idx="7">
                  <c:v>Austria</c:v>
                </c:pt>
                <c:pt idx="8">
                  <c:v>Svizzera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77</c:v>
                </c:pt>
                <c:pt idx="1">
                  <c:v>67</c:v>
                </c:pt>
                <c:pt idx="2">
                  <c:v>33</c:v>
                </c:pt>
                <c:pt idx="3">
                  <c:v>30</c:v>
                </c:pt>
                <c:pt idx="4">
                  <c:v>13</c:v>
                </c:pt>
                <c:pt idx="5">
                  <c:v>2</c:v>
                </c:pt>
                <c:pt idx="6">
                  <c:v>0</c:v>
                </c:pt>
                <c:pt idx="7">
                  <c:v>-1</c:v>
                </c:pt>
                <c:pt idx="8">
                  <c:v>-12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844-46C5-BDCC-4AE8F20206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lang="it-IT" sz="1400" b="0" i="0" u="none" strike="noStrike">
                <a:solidFill>
                  <a:srgbClr val="0F3D3E"/>
                </a:solidFill>
                <a:latin typeface="+mn-lt"/>
              </a:rPr>
              <a:t>Quota di rivenditori in churn per paese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(%)</c:v>
                </c:pt>
              </c:strCache>
            </c:strRef>
          </c:tx>
          <c:spPr>
            <a:solidFill>
              <a:srgbClr val="E855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7D-4262-B3EB-F7C7C44C432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97D-4262-B3EB-F7C7C44C432D}"/>
              </c:ext>
            </c:extLst>
          </c:dPt>
          <c:dPt>
            <c:idx val="2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7D-4262-B3EB-F7C7C44C432D}"/>
              </c:ext>
            </c:extLst>
          </c:dPt>
          <c:dPt>
            <c:idx val="3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97D-4262-B3EB-F7C7C44C432D}"/>
              </c:ext>
            </c:extLst>
          </c:dPt>
          <c:dPt>
            <c:idx val="4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7D-4262-B3EB-F7C7C44C432D}"/>
              </c:ext>
            </c:extLst>
          </c:dPt>
          <c:dPt>
            <c:idx val="5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97D-4262-B3EB-F7C7C44C432D}"/>
              </c:ext>
            </c:extLst>
          </c:dPt>
          <c:dPt>
            <c:idx val="6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97D-4262-B3EB-F7C7C44C432D}"/>
              </c:ext>
            </c:extLst>
          </c:dPt>
          <c:dPt>
            <c:idx val="7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97D-4262-B3EB-F7C7C44C432D}"/>
              </c:ext>
            </c:extLst>
          </c:dPt>
          <c:dPt>
            <c:idx val="8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97D-4262-B3EB-F7C7C44C432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D"/>
                    </a:solidFill>
                    <a:latin typeface="+mn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Norvegia</c:v>
                </c:pt>
                <c:pt idx="1">
                  <c:v>Austria</c:v>
                </c:pt>
                <c:pt idx="2">
                  <c:v>Francia</c:v>
                </c:pt>
                <c:pt idx="3">
                  <c:v>Italia</c:v>
                </c:pt>
                <c:pt idx="4">
                  <c:v>Danimarca</c:v>
                </c:pt>
                <c:pt idx="5">
                  <c:v>Svizzera</c:v>
                </c:pt>
                <c:pt idx="6">
                  <c:v>Svezia</c:v>
                </c:pt>
                <c:pt idx="7">
                  <c:v>Spagna</c:v>
                </c:pt>
                <c:pt idx="8">
                  <c:v>Germania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</c:v>
                </c:pt>
                <c:pt idx="1">
                  <c:v>30</c:v>
                </c:pt>
                <c:pt idx="2">
                  <c:v>29</c:v>
                </c:pt>
                <c:pt idx="3">
                  <c:v>29</c:v>
                </c:pt>
                <c:pt idx="4">
                  <c:v>28</c:v>
                </c:pt>
                <c:pt idx="5">
                  <c:v>24</c:v>
                </c:pt>
                <c:pt idx="6">
                  <c:v>16</c:v>
                </c:pt>
                <c:pt idx="7">
                  <c:v>13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97D-4262-B3EB-F7C7C44C432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(%)</c:v>
                </c:pt>
              </c:strCache>
            </c:strRef>
          </c:tx>
          <c:spPr>
            <a:solidFill>
              <a:srgbClr val="9CC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1B-4FD8-B570-81A9C6D9CF50}"/>
              </c:ext>
            </c:extLst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1B-4FD8-B570-81A9C6D9CF50}"/>
              </c:ext>
            </c:extLst>
          </c:dPt>
          <c:dPt>
            <c:idx val="2"/>
            <c:invertIfNegative val="0"/>
            <c:bubble3D val="0"/>
            <c:spPr>
              <a:solidFill>
                <a:srgbClr val="E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1B-4FD8-B570-81A9C6D9CF5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D"/>
                    </a:solidFill>
                    <a:latin typeface="+mn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0-60 giorni</c:v>
                </c:pt>
                <c:pt idx="1">
                  <c:v>61-120 giorni</c:v>
                </c:pt>
                <c:pt idx="2">
                  <c:v>121-180 giorni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18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1B-4FD8-B570-81A9C6D9CF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(%)</c:v>
                </c:pt>
              </c:strCache>
            </c:strRef>
          </c:tx>
          <c:spPr>
            <a:solidFill>
              <a:srgbClr val="E855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6D-43B6-94C5-74969987B359}"/>
              </c:ext>
            </c:extLst>
          </c:dPt>
          <c:dPt>
            <c:idx val="1"/>
            <c:invertIfNegative val="0"/>
            <c:bubble3D val="0"/>
            <c:spPr>
              <a:solidFill>
                <a:srgbClr val="F2B1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6D-43B6-94C5-74969987B359}"/>
              </c:ext>
            </c:extLst>
          </c:dPt>
          <c:dPt>
            <c:idx val="2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6D-43B6-94C5-74969987B359}"/>
              </c:ext>
            </c:extLst>
          </c:dPt>
          <c:dPt>
            <c:idx val="3"/>
            <c:invertIfNegative val="0"/>
            <c:bubble3D val="0"/>
            <c:spPr>
              <a:solidFill>
                <a:srgbClr val="9CC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46D-43B6-94C5-74969987B359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D"/>
                    </a:solidFill>
                    <a:latin typeface="+mn-lt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fino a 10</c:v>
                </c:pt>
                <c:pt idx="1">
                  <c:v>11-15</c:v>
                </c:pt>
                <c:pt idx="2">
                  <c:v>16-20</c:v>
                </c:pt>
                <c:pt idx="3">
                  <c:v>oltre 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31</c:v>
                </c:pt>
                <c:pt idx="2">
                  <c:v>18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46D-43B6-94C5-74969987B3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2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03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Ho analizzato tre anni di vendite ToysGroup (2.000 transazioni, 300 rivenditori, 9 paesi, 12 prodotti) per capire dove cresce l'azienda e dove rischia di perdere clienti.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Sintesi in quattro numeri: crescita, motore della crescita, concentrazione sui prodotti, churn dei rivenditori. Il resto della presentazione spiega ognuno di questi punti.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file: prodotti, regioni, vendite, rivenditori. In sales mancano 100 importi su 2.000. Li escludo dai totali, ma poiché l'importo è sempre quantità per prezzo di listino, 98 su 100 si possono ricostruire.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fatturato sale del 28% nel 2024 e del 21% nel 2025. Ma le transazioni sono stabili intorno a 600 l'anno: a crescere è la quantità per ordine, da 3,8 a 6,1 pezzi. Il prezzo applicato è sempre quello di listino, quindi non c'è un effetto prezzo.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Bici BMX e Bici Junior valgono quasi metà del fatturato. L'Outdoor pesa il 59% e nel 2025 cresce del 28%: è il motore, ma è anche una dipendenza.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Crescita 2025 sul 2024 per paese. Svezia e Norvegia salgono di oltre il 65%. Austria è il primo paese per fatturato totale ma nel 2025 è ferma, e la Svizzera cala del 12%.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churn complessivo è del 24%: 71 rivenditori su 300 non ordinano da oltre sei mesi. Austria e Norvegia hanno il tasso più alto (30%) e insieme valgono il 26% del fatturato.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segnale più forte è il tempo dall'ultimo ordine: churn al 5% sotto i 60 giorni, 18% tra 61 e 120, 49% oltre. Anche chi fa pochi ordini l'anno è a rischio. Sconto medio e reclami spiegano poco.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su ordini, giorni dall'ultimo ordine e fatturato, con k uguale a 3. I Dormienti sono il 46% della base, ordinano poco e da molto tempo: 54 dei 71 rivenditori persi sono lì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Regressione logistica su ordini, giorni dall'ultimo ordine, sconto e reclami. Con soglia 0,3 individua 10 dei 14 rivenditori in churn del test. Un falso allarme costa una telefonata, un rivenditore perso molto di più. Test su soli 60 rivenditori: è un punto di partenza.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azioni in ordine di impatto. La prima è la più rapida: un alert sui rivenditori senza ordini da 60-90 giorni.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Cosa ho fatto e cosa va tenuto presente: i numeri sono solidi come descrizione del passato, ma le previsioni vanno prese con cautela.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_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234440"/>
            <a:ext cx="48463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246120"/>
            <a:ext cx="4846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_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ToysGroup · Analisi vendite e rivenditori 2023-2025 · importi mancanti esclusi (5%)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chio corallo"/>
          <p:cNvSpPr/>
          <p:nvPr/>
        </p:nvSpPr>
        <p:spPr>
          <a:xfrm>
            <a:off x="5989320" y="68580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Cerchio giallo"/>
          <p:cNvSpPr/>
          <p:nvPr/>
        </p:nvSpPr>
        <p:spPr>
          <a:xfrm>
            <a:off x="7360920" y="2331720"/>
            <a:ext cx="1371600" cy="13716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Cerchio verde"/>
          <p:cNvSpPr/>
          <p:nvPr/>
        </p:nvSpPr>
        <p:spPr>
          <a:xfrm>
            <a:off x="5577840" y="2971800"/>
            <a:ext cx="1554480" cy="1554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2344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ToysGroup: cosa raccontano tre anni di vendite</a:t>
            </a:r>
            <a:endParaRPr lang="en-US" sz="3800" dirty="0"/>
          </a:p>
        </p:txBody>
      </p:sp>
      <p:sp>
        <p:nvSpPr>
          <p:cNvPr id="6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246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Analisi delle vendite e dei rivenditori, 2023-2025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Il fatturato cresce del 56% in due anni, ma un rivenditore su quattro è già perso</a:t>
            </a:r>
            <a:endParaRPr lang="en-US" sz="2800" dirty="0"/>
          </a:p>
        </p:txBody>
      </p:sp>
      <p:sp>
        <p:nvSpPr>
          <p:cNvPr id="4" name="Card sintesi 1"/>
          <p:cNvSpPr/>
          <p:nvPr/>
        </p:nvSpPr>
        <p:spPr>
          <a:xfrm>
            <a:off x="457200" y="141732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 txBox="1"/>
          <p:nvPr/>
        </p:nvSpPr>
        <p:spPr>
          <a:xfrm>
            <a:off x="64008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+56%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fatturato 2025 rispetto al 2023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da 145,8 a 227,1 mila €</a:t>
            </a:r>
            <a:endParaRPr lang="en-US" sz="1300" dirty="0"/>
          </a:p>
        </p:txBody>
      </p:sp>
      <p:sp>
        <p:nvSpPr>
          <p:cNvPr id="8" name="Card sintesi 2"/>
          <p:cNvSpPr/>
          <p:nvPr/>
        </p:nvSpPr>
        <p:spPr>
          <a:xfrm>
            <a:off x="2560320" y="141732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 txBox="1"/>
          <p:nvPr/>
        </p:nvSpPr>
        <p:spPr>
          <a:xfrm>
            <a:off x="274320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+58%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pezzi per ordine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gli ordini restano circa 600 l'anno</a:t>
            </a:r>
            <a:endParaRPr lang="en-US" sz="1300" dirty="0"/>
          </a:p>
        </p:txBody>
      </p:sp>
      <p:sp>
        <p:nvSpPr>
          <p:cNvPr id="12" name="Card sintesi 3"/>
          <p:cNvSpPr/>
          <p:nvPr/>
        </p:nvSpPr>
        <p:spPr>
          <a:xfrm>
            <a:off x="4663440" y="141732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 txBox="1"/>
          <p:nvPr/>
        </p:nvSpPr>
        <p:spPr>
          <a:xfrm>
            <a:off x="484632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 fatturato da due biciclette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Bici BMX e Bici Junior</a:t>
            </a:r>
            <a:endParaRPr lang="en-US" sz="1300" dirty="0"/>
          </a:p>
        </p:txBody>
      </p:sp>
      <p:sp>
        <p:nvSpPr>
          <p:cNvPr id="16" name="Card sintesi 4"/>
          <p:cNvSpPr/>
          <p:nvPr/>
        </p:nvSpPr>
        <p:spPr>
          <a:xfrm>
            <a:off x="6766560" y="1417320"/>
            <a:ext cx="1920240" cy="2331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 txBox="1"/>
          <p:nvPr/>
        </p:nvSpPr>
        <p:spPr>
          <a:xfrm>
            <a:off x="694944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rivenditori in churn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71 su 300, il 18% del fatturato</a:t>
            </a:r>
            <a:endParaRPr lang="en-US" sz="1300" dirty="0"/>
          </a:p>
        </p:txBody>
      </p:sp>
      <p:sp>
        <p:nvSpPr>
          <p:cNvPr id="20" name="Priorità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Priorità: riattivare chi non ordina da 60-90 giorni e difendere Austria e Norvegia.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Dati solidi: l'unico buco è il 5% di importi mancanti</a:t>
            </a:r>
            <a:endParaRPr lang="en-US" sz="2800" dirty="0"/>
          </a:p>
        </p:txBody>
      </p:sp>
      <p:sp>
        <p:nvSpPr>
          <p:cNvPr id="4" name="Tessera dati 1"/>
          <p:cNvSpPr/>
          <p:nvPr/>
        </p:nvSpPr>
        <p:spPr>
          <a:xfrm>
            <a:off x="457200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2.000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transazioni, 2023-2025</a:t>
            </a:r>
            <a:endParaRPr lang="en-US" sz="1400" dirty="0"/>
          </a:p>
        </p:txBody>
      </p:sp>
      <p:sp>
        <p:nvSpPr>
          <p:cNvPr id="7" name="Tessera dati 2"/>
          <p:cNvSpPr/>
          <p:nvPr/>
        </p:nvSpPr>
        <p:spPr>
          <a:xfrm>
            <a:off x="2468880" y="14173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2651760" y="1600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rivenditori</a:t>
            </a:r>
            <a:endParaRPr lang="en-US" sz="1400" dirty="0"/>
          </a:p>
        </p:txBody>
      </p:sp>
      <p:sp>
        <p:nvSpPr>
          <p:cNvPr id="10" name="Tessera dati 3"/>
          <p:cNvSpPr/>
          <p:nvPr/>
        </p:nvSpPr>
        <p:spPr>
          <a:xfrm>
            <a:off x="457200" y="30175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 txBox="1"/>
          <p:nvPr/>
        </p:nvSpPr>
        <p:spPr>
          <a:xfrm>
            <a:off x="64008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paesi in 3 aree</a:t>
            </a:r>
            <a:endParaRPr lang="en-US" sz="1400" dirty="0"/>
          </a:p>
        </p:txBody>
      </p:sp>
      <p:sp>
        <p:nvSpPr>
          <p:cNvPr id="13" name="Tessera dati 4"/>
          <p:cNvSpPr/>
          <p:nvPr/>
        </p:nvSpPr>
        <p:spPr>
          <a:xfrm>
            <a:off x="2468880" y="3017520"/>
            <a:ext cx="18288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2651760" y="3200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prodotti in 3 categorie</a:t>
            </a:r>
            <a:endParaRPr lang="en-US" sz="1400" dirty="0"/>
          </a:p>
        </p:txBody>
      </p:sp>
      <p:sp>
        <p:nvSpPr>
          <p:cNvPr id="16" name="Qualità dei dati"/>
          <p:cNvSpPr/>
          <p:nvPr/>
        </p:nvSpPr>
        <p:spPr>
          <a:xfrm>
            <a:off x="4663440" y="1417320"/>
            <a:ext cx="402336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 txBox="1"/>
          <p:nvPr/>
        </p:nvSpPr>
        <p:spPr>
          <a:xfrm>
            <a:off x="493776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Qualità dei dati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937760" y="21031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100 transazioni (5%) senza importo: escluse. Fatturato analizzato: 560,1 mila €.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98 di queste si ricostruiscono (quantità × prezzo di listino): +29,2 mila € (+5,2%).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Fatturato reale stimato: circa 589 mila €.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La crescita viene da ordini più grandi, non da più ordini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4206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Dato crescita 1"/>
          <p:cNvSpPr/>
          <p:nvPr/>
        </p:nvSpPr>
        <p:spPr>
          <a:xfrm>
            <a:off x="4937760" y="141732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2"/>
          <p:cNvSpPr txBox="1"/>
          <p:nvPr/>
        </p:nvSpPr>
        <p:spPr>
          <a:xfrm>
            <a:off x="5120640" y="14173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+28% e +21%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crescita del fatturato nel 2024 e nel 2025</a:t>
            </a:r>
            <a:endParaRPr lang="en-US" sz="1200" dirty="0"/>
          </a:p>
        </p:txBody>
      </p:sp>
      <p:sp>
        <p:nvSpPr>
          <p:cNvPr id="8" name="Dato crescita 2"/>
          <p:cNvSpPr/>
          <p:nvPr/>
        </p:nvSpPr>
        <p:spPr>
          <a:xfrm>
            <a:off x="4937760" y="246888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 txBox="1"/>
          <p:nvPr/>
        </p:nvSpPr>
        <p:spPr>
          <a:xfrm>
            <a:off x="5120640" y="2468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 → 6,1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pezzi per ordine, 2023 → 2025 (+58%)</a:t>
            </a:r>
            <a:endParaRPr lang="en-US" sz="1200" dirty="0"/>
          </a:p>
        </p:txBody>
      </p:sp>
      <p:sp>
        <p:nvSpPr>
          <p:cNvPr id="11" name="Dato crescita 3"/>
          <p:cNvSpPr/>
          <p:nvPr/>
        </p:nvSpPr>
        <p:spPr>
          <a:xfrm>
            <a:off x="4937760" y="352044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 txBox="1"/>
          <p:nvPr/>
        </p:nvSpPr>
        <p:spPr>
          <a:xfrm>
            <a:off x="5120640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~600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3520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ordini l'anno, stabili: nessun effetto prezzo, si vende sempre a listino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Due biciclette fanno il 44% del fatturato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25880"/>
          <a:ext cx="493776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66928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 categoria</a:t>
            </a:r>
            <a:endParaRPr lang="en-US" sz="1400" dirty="0"/>
          </a:p>
        </p:txBody>
      </p:sp>
      <p:sp>
        <p:nvSpPr>
          <p:cNvPr id="6" name="Categoria Outdoor"/>
          <p:cNvSpPr/>
          <p:nvPr/>
        </p:nvSpPr>
        <p:spPr>
          <a:xfrm>
            <a:off x="5669280" y="1737360"/>
            <a:ext cx="30175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 txBox="1"/>
          <p:nvPr/>
        </p:nvSpPr>
        <p:spPr>
          <a:xfrm>
            <a:off x="5806440" y="173736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17373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Outdoor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2025: +28% sul 2024</a:t>
            </a:r>
            <a:endParaRPr lang="en-US" sz="1200" dirty="0"/>
          </a:p>
        </p:txBody>
      </p:sp>
      <p:sp>
        <p:nvSpPr>
          <p:cNvPr id="9" name="Categoria Giocattoli"/>
          <p:cNvSpPr/>
          <p:nvPr/>
        </p:nvSpPr>
        <p:spPr>
          <a:xfrm>
            <a:off x="5669280" y="2651760"/>
            <a:ext cx="30175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5806440" y="265176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26517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Giocattoli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2025: +10% sul 2024</a:t>
            </a:r>
            <a:endParaRPr lang="en-US" sz="1200" dirty="0"/>
          </a:p>
        </p:txBody>
      </p:sp>
      <p:sp>
        <p:nvSpPr>
          <p:cNvPr id="12" name="Categoria Giochi da tavolo"/>
          <p:cNvSpPr/>
          <p:nvPr/>
        </p:nvSpPr>
        <p:spPr>
          <a:xfrm>
            <a:off x="5669280" y="3566160"/>
            <a:ext cx="301752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 txBox="1"/>
          <p:nvPr/>
        </p:nvSpPr>
        <p:spPr>
          <a:xfrm>
            <a:off x="5806440" y="356616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3566160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Giochi da tavolo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2025: +22% sul 2024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Il Nord Europa traina il 2025, Svizzera e Austria frenano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2120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Area Nord Europa"/>
          <p:cNvSpPr/>
          <p:nvPr/>
        </p:nvSpPr>
        <p:spPr>
          <a:xfrm>
            <a:off x="5943600" y="1417320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2"/>
          <p:cNvSpPr txBox="1"/>
          <p:nvPr/>
        </p:nvSpPr>
        <p:spPr>
          <a:xfrm>
            <a:off x="6080760" y="141732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+49%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7086600" y="14173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Nord Europa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56,6 → 84,5 mila €</a:t>
            </a:r>
            <a:endParaRPr lang="en-US" sz="1200" dirty="0"/>
          </a:p>
        </p:txBody>
      </p:sp>
      <p:sp>
        <p:nvSpPr>
          <p:cNvPr id="8" name="Area Sud Europa"/>
          <p:cNvSpPr/>
          <p:nvPr/>
        </p:nvSpPr>
        <p:spPr>
          <a:xfrm>
            <a:off x="5943600" y="2286000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 txBox="1"/>
          <p:nvPr/>
        </p:nvSpPr>
        <p:spPr>
          <a:xfrm>
            <a:off x="6080760" y="228600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+14%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22860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Sud Europa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58,3 → 66,2 mila €</a:t>
            </a:r>
            <a:endParaRPr lang="en-US" sz="1200" dirty="0"/>
          </a:p>
        </p:txBody>
      </p:sp>
      <p:sp>
        <p:nvSpPr>
          <p:cNvPr id="11" name="Area Centro Europa"/>
          <p:cNvSpPr/>
          <p:nvPr/>
        </p:nvSpPr>
        <p:spPr>
          <a:xfrm>
            <a:off x="5943600" y="3154680"/>
            <a:ext cx="27432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 txBox="1"/>
          <p:nvPr/>
        </p:nvSpPr>
        <p:spPr>
          <a:xfrm>
            <a:off x="6080760" y="3154680"/>
            <a:ext cx="96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+6%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086600" y="315468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Centro Europa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72,2 → 76,3 mila €</a:t>
            </a:r>
            <a:endParaRPr lang="en-US" sz="1200" dirty="0"/>
          </a:p>
        </p:txBody>
      </p:sp>
      <p:sp>
        <p:nvSpPr>
          <p:cNvPr id="14" name="Nota Austria"/>
          <p:cNvSpPr/>
          <p:nvPr/>
        </p:nvSpPr>
        <p:spPr>
          <a:xfrm>
            <a:off x="5943600" y="4023360"/>
            <a:ext cx="2743200" cy="566928"/>
          </a:xfrm>
          <a:prstGeom prst="roundRect">
            <a:avLst>
              <a:gd name="adj" fmla="val 1935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 txBox="1"/>
          <p:nvPr/>
        </p:nvSpPr>
        <p:spPr>
          <a:xfrm>
            <a:off x="6080760" y="40233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Austria: primo paese (74,4 mila €) ma ferma nel 2025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Austria e Norvegia vendono tanto ma perdono quasi un rivenditore su tre</a:t>
            </a:r>
            <a:endParaRPr lang="en-US" sz="2800" dirty="0"/>
          </a:p>
        </p:txBody>
      </p:sp>
      <p:sp>
        <p:nvSpPr>
          <p:cNvPr id="4" name="Churn totale"/>
          <p:cNvSpPr/>
          <p:nvPr/>
        </p:nvSpPr>
        <p:spPr>
          <a:xfrm>
            <a:off x="457200" y="1371600"/>
            <a:ext cx="2377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 txBox="1"/>
          <p:nvPr/>
        </p:nvSpPr>
        <p:spPr>
          <a:xfrm>
            <a:off x="64008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rivenditori in churn (71 su 300)</a:t>
            </a:r>
            <a:endParaRPr lang="en-US" sz="1300" dirty="0"/>
          </a:p>
        </p:txBody>
      </p:sp>
      <p:sp>
        <p:nvSpPr>
          <p:cNvPr id="7" name="Fatturato dei churn"/>
          <p:cNvSpPr/>
          <p:nvPr/>
        </p:nvSpPr>
        <p:spPr>
          <a:xfrm>
            <a:off x="457200" y="3017520"/>
            <a:ext cx="23774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640080" y="3108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840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del fatturato 2023-25 arriva da rivenditori ora in churn (99,5 mila €)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108960" y="1325880"/>
          <a:ext cx="55778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3108960" y="4206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Austria + Norvegia = 26% del fatturato (146,2 mila €), con churn al 30%.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Oltre 120 giorni senza ordini, un rivenditore su due se ne va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Churn per giorni dall'ultimo ordine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91640"/>
          <a:ext cx="4023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Churn per ordini negli ultimi 12 mesi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691640"/>
          <a:ext cx="4023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Sconto medio e reclami spiegano poco: churn 27% con sconti fino all'8%, 22% oltre il 16%.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Tre segmenti di rivenditori: i Dormienti concentrano tre quarti del churn</a:t>
            </a:r>
            <a:endParaRPr lang="en-US" sz="2800" dirty="0"/>
          </a:p>
        </p:txBody>
      </p:sp>
      <p:sp>
        <p:nvSpPr>
          <p:cNvPr id="4" name="Segmento Top attivi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 txBox="1"/>
          <p:nvPr/>
        </p:nvSpPr>
        <p:spPr>
          <a:xfrm>
            <a:off x="68580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attivi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68 rivenditori (23%)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Ordini 12 mesi: 22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Ultimo ordine: 46 giorni fa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Fatturato medio: 3,5 mila €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churn</a:t>
            </a:r>
            <a:endParaRPr lang="en-US" sz="1200" dirty="0"/>
          </a:p>
        </p:txBody>
      </p:sp>
      <p:sp>
        <p:nvSpPr>
          <p:cNvPr id="10" name="Segmento Attivi e regolari"/>
          <p:cNvSpPr/>
          <p:nvPr/>
        </p:nvSpPr>
        <p:spPr>
          <a:xfrm>
            <a:off x="324612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 txBox="1"/>
          <p:nvPr/>
        </p:nvSpPr>
        <p:spPr>
          <a:xfrm>
            <a:off x="347472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Attivi e regolari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95 rivenditori (32%)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Ordini 12 mesi: 20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Ultimo ordine: 48 giorni fa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Fatturato medio: 1,5 mila €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churn</a:t>
            </a:r>
            <a:endParaRPr lang="en-US" sz="1200" dirty="0"/>
          </a:p>
        </p:txBody>
      </p:sp>
      <p:sp>
        <p:nvSpPr>
          <p:cNvPr id="16" name="Segmento Dormienti a rischio"/>
          <p:cNvSpPr/>
          <p:nvPr/>
        </p:nvSpPr>
        <p:spPr>
          <a:xfrm>
            <a:off x="6035040" y="137160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 txBox="1"/>
          <p:nvPr/>
        </p:nvSpPr>
        <p:spPr>
          <a:xfrm>
            <a:off x="626364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Dormienti a rischio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137 rivenditori (46%)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331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Ordini 12 mesi: 12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Ultimo ordine: 141 giorni fa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Fatturato medio: 1,3 mila €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38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churn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 Dormienti contengono 54 dei 71 rivenditori persi (76%): è lì che serve agire.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Un modello semplice individua 7 rivenditori in churn su 10</a:t>
            </a:r>
            <a:endParaRPr lang="en-US" sz="2800" dirty="0"/>
          </a:p>
        </p:txBody>
      </p:sp>
      <p:sp>
        <p:nvSpPr>
          <p:cNvPr id="4" name="Recall"/>
          <p:cNvSpPr/>
          <p:nvPr/>
        </p:nvSpPr>
        <p:spPr>
          <a:xfrm>
            <a:off x="457200" y="1371600"/>
            <a:ext cx="2743200" cy="310896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dei rivenditori in churn individuati nel test (10 su 14)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Soglia di allarme: 0,3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417320"/>
          <a:ext cx="521208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Soglia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individuati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Falsi allarmi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su 14 (29%)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su 14 (71%)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474720" y="30175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Perché la soglia 0,3: </a:t>
            </a:r>
            <a:r>
              <a:rPr lang="en-US" sz="1400" dirty="0">
                <a:solidFill>
                  <a:schemeClr val="tx1"/>
                </a:solidFill>
              </a:rPr>
              <a:t>abbassarla fa scattare più allarmi ma ne perde meno di quelli veri. Per ogni 2 allarmi, 1 è un rivenditore davvero a rischio.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474720" y="38404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Limiti: test su 60 rivenditori, AUC 0,76. L'accuratezza (77%) non batte chi dice sempre «nessun churn»: conta il recall.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Cosa farei nei prossimi 90 giorni</a:t>
            </a:r>
            <a:endParaRPr lang="en-US" sz="2800" dirty="0"/>
          </a:p>
        </p:txBody>
      </p:sp>
      <p:sp>
        <p:nvSpPr>
          <p:cNvPr id="4" name="Azione 1"/>
          <p:cNvSpPr/>
          <p:nvPr/>
        </p:nvSpPr>
        <p:spPr>
          <a:xfrm>
            <a:off x="457200" y="13716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Numero azione 1"/>
          <p:cNvSpPr/>
          <p:nvPr/>
        </p:nvSpPr>
        <p:spPr>
          <a:xfrm>
            <a:off x="640080" y="1572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 txBox="1"/>
          <p:nvPr/>
        </p:nvSpPr>
        <p:spPr>
          <a:xfrm>
            <a:off x="6400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554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Riattivare chi tace da 60-90 giorni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Alert automatico sui rivenditori senza ordini: il churn passa da 5% a 18% a 49% con il passare dei giorni.</a:t>
            </a:r>
            <a:endParaRPr lang="en-US" sz="1300" dirty="0"/>
          </a:p>
        </p:txBody>
      </p:sp>
      <p:sp>
        <p:nvSpPr>
          <p:cNvPr id="9" name="Azione 2"/>
          <p:cNvSpPr/>
          <p:nvPr/>
        </p:nvSpPr>
        <p:spPr>
          <a:xfrm>
            <a:off x="4663440" y="13716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Numero azione 2"/>
          <p:cNvSpPr/>
          <p:nvPr/>
        </p:nvSpPr>
        <p:spPr>
          <a:xfrm>
            <a:off x="4846320" y="1572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 txBox="1"/>
          <p:nvPr/>
        </p:nvSpPr>
        <p:spPr>
          <a:xfrm>
            <a:off x="48463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554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Retention su Austria e Norvegia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Churn al 30% su un quarto del fatturato (146 mila €): contatto diretto con i rivenditori a rischio.</a:t>
            </a:r>
            <a:endParaRPr lang="en-US" sz="1300" dirty="0"/>
          </a:p>
        </p:txBody>
      </p:sp>
      <p:sp>
        <p:nvSpPr>
          <p:cNvPr id="14" name="Azione 3"/>
          <p:cNvSpPr/>
          <p:nvPr/>
        </p:nvSpPr>
        <p:spPr>
          <a:xfrm>
            <a:off x="457200" y="29718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Numero azione 3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Ridurre la dipendenza dalle biciclette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Due prodotti valgono il 44% delle vendite: spingere Robot RC, Monopattino e Giochi da tavolo (+22% nel 2025).</a:t>
            </a:r>
            <a:endParaRPr lang="en-US" sz="1300" dirty="0"/>
          </a:p>
        </p:txBody>
      </p:sp>
      <p:sp>
        <p:nvSpPr>
          <p:cNvPr id="19" name="Azione 4"/>
          <p:cNvSpPr/>
          <p:nvPr/>
        </p:nvSpPr>
        <p:spPr>
          <a:xfrm>
            <a:off x="4663440" y="29718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Numero azione 4"/>
          <p:cNvSpPr/>
          <p:nvPr/>
        </p:nvSpPr>
        <p:spPr>
          <a:xfrm>
            <a:off x="4846320" y="31729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 txBox="1"/>
          <p:nvPr/>
        </p:nvSpPr>
        <p:spPr>
          <a:xfrm>
            <a:off x="48463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4068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Replicare ciò che funziona al Nord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Svezia +77% e Norvegia +67% nel 2025: capire le leve commerciali e portarle in Svizzera (-12%) e Austria.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Metodo e limiti dell'analisi</a:t>
            </a:r>
            <a:endParaRPr lang="en-US" sz="2800" dirty="0"/>
          </a:p>
        </p:txBody>
      </p:sp>
      <p:sp>
        <p:nvSpPr>
          <p:cNvPr id="4" name="Come ho lavorato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Come ho lavorato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Pulizia: importi mancanti esclusi, quantità mancanti con la mediana.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Unione di vendite, prodotti, aree e rivenditori.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Serie mensile e confronto anno su anno.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Segmentazione K-Means (k = 3) e regressione logistica per il churn.</a:t>
            </a:r>
            <a:endParaRPr lang="en-US" sz="1400" dirty="0"/>
          </a:p>
        </p:txBody>
      </p:sp>
      <p:sp>
        <p:nvSpPr>
          <p:cNvPr id="7" name="Limiti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Limiti da tenere a mente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Il 5% di importi mancanti sottostima il fatturato di circa 5,2%.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 36 mesi la previsione del fatturato non è affidabile: l'R² sul test è negativo.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Il modello di churn è testato su soli 60 rivenditori.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Correlazione non è causalità: i driver dicono dove agire, non il perché.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ysGroup Analisi">
  <a:themeElements>
    <a:clrScheme name="ToysGroup Analisi">
      <a:dk1>
        <a:srgbClr val="1C2B2D"/>
      </a:dk1>
      <a:lt1>
        <a:srgbClr val="FFFFFF"/>
      </a:lt1>
      <a:dk2>
        <a:srgbClr val="0F3D3E"/>
      </a:dk2>
      <a:lt2>
        <a:srgbClr val="EEF2F1"/>
      </a:lt2>
      <a:accent1>
        <a:srgbClr val="E8553D"/>
      </a:accent1>
      <a:accent2>
        <a:srgbClr val="F2B134"/>
      </a:accent2>
      <a:accent3>
        <a:srgbClr val="2A9D8F"/>
      </a:accent3>
      <a:accent4>
        <a:srgbClr val="6C7A89"/>
      </a:accent4>
      <a:accent5>
        <a:srgbClr val="8E5572"/>
      </a:accent5>
      <a:accent6>
        <a:srgbClr val="9CC5C0"/>
      </a:accent6>
      <a:hlink>
        <a:srgbClr val="2A9D8F"/>
      </a:hlink>
      <a:folHlink>
        <a:srgbClr val="6C7A89"/>
      </a:folHlink>
    </a:clrScheme>
    <a:fontScheme name="ToysGroup Analis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1393</Words>
  <Application>Microsoft Office PowerPoint</Application>
  <PresentationFormat>Presentazione su schermo (16:9)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ToysGroup Analisi</vt:lpstr>
      <vt:lpstr>ToysGroup: cosa raccontano tre anni di vendite</vt:lpstr>
      <vt:lpstr>Il fatturato cresce del 56% in due anni, ma un rivenditore su quattro è già perso</vt:lpstr>
      <vt:lpstr>Dati solidi: l'unico buco è il 5% di importi mancanti</vt:lpstr>
      <vt:lpstr>La crescita viene da ordini più grandi, non da più ordini</vt:lpstr>
      <vt:lpstr>Due biciclette fanno il 44% del fatturato</vt:lpstr>
      <vt:lpstr>Il Nord Europa traina il 2025, Svizzera e Austria frenano</vt:lpstr>
      <vt:lpstr>Austria e Norvegia vendono tanto ma perdono quasi un rivenditore su tre</vt:lpstr>
      <vt:lpstr>Oltre 120 giorni senza ordini, un rivenditore su due se ne va</vt:lpstr>
      <vt:lpstr>Tre segmenti di rivenditori: i Dormienti concentrano tre quarti del churn</vt:lpstr>
      <vt:lpstr>Un modello semplice individua 7 rivenditori in churn su 10</vt:lpstr>
      <vt:lpstr>Cosa farei nei prossimi 90 giorni</vt:lpstr>
      <vt:lpstr>Metodo e limiti dell'analisi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ToysGroup: cosa raccontano tre anni di vendite</dc:title>
  <dc:subject>Analisi delle vendite e dei rivenditori 2023-2025</dc:subject>
  <dc:creator>PptxGenJS</dc:creator>
  <cp:lastModifiedBy>masterbluster00@outlook.it</cp:lastModifiedBy>
  <cp:revision>1</cp:revision>
  <dcterms:created xsi:type="dcterms:W3CDTF">2026-10-28T16:28:19Z</dcterms:created>
  <dcterms:modified xsi:type="dcterms:W3CDTF">2026-10-28T17:17:24Z</dcterms:modified>
</cp:coreProperties>
</file>